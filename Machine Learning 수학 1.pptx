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1" r:id="rId6"/>
    <p:sldId id="258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129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58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7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49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416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6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0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73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73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17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93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6908F-85D3-4928-BA67-D4A518B03247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CC48B-9703-41CF-B4FA-DF00011D6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54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88D74-0F53-92B4-EBBA-1BFB75029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Machine Learning </a:t>
            </a:r>
            <a:r>
              <a:rPr lang="ko-KR" altLang="en-US" dirty="0"/>
              <a:t>수학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0CE160-7F8A-0FD7-AAD7-90582D832D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Discriminative Approach and Mathematical Foundations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98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68DD9-7C5D-4DCC-03C2-659771F5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BB2BF-362C-347B-F36F-E57006307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기초 수학 도구를 활용하여 </a:t>
            </a:r>
            <a:r>
              <a:rPr lang="ko-KR" altLang="en-US" sz="1600" dirty="0" err="1"/>
              <a:t>머신러닝</a:t>
            </a:r>
            <a:r>
              <a:rPr lang="ko-KR" altLang="en-US" sz="1600" dirty="0"/>
              <a:t> 모델의 원리를 이해한다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선형대수</a:t>
            </a:r>
            <a:r>
              <a:rPr lang="en-US" altLang="ko-KR" sz="1200" dirty="0"/>
              <a:t>(</a:t>
            </a:r>
            <a:r>
              <a:rPr lang="ko-KR" altLang="en-US" sz="1200" dirty="0"/>
              <a:t>벡터</a:t>
            </a:r>
            <a:r>
              <a:rPr lang="en-US" altLang="ko-KR" sz="1200" dirty="0"/>
              <a:t>, </a:t>
            </a:r>
            <a:r>
              <a:rPr lang="ko-KR" altLang="en-US" sz="1200" dirty="0"/>
              <a:t>행렬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고유값</a:t>
            </a:r>
            <a:r>
              <a:rPr lang="en-US" altLang="ko-KR" sz="1200" dirty="0"/>
              <a:t>), </a:t>
            </a:r>
            <a:r>
              <a:rPr lang="ko-KR" altLang="en-US" sz="1200" dirty="0"/>
              <a:t>미분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그래디언트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헤시안</a:t>
            </a:r>
            <a:r>
              <a:rPr lang="en-US" altLang="ko-KR" sz="1200" dirty="0"/>
              <a:t>), </a:t>
            </a:r>
            <a:r>
              <a:rPr lang="ko-KR" altLang="en-US" sz="1200" dirty="0"/>
              <a:t>최적화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경사하강법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뉴턴법</a:t>
            </a:r>
            <a:r>
              <a:rPr lang="en-US" altLang="ko-KR" sz="1200" dirty="0"/>
              <a:t>), </a:t>
            </a:r>
            <a:r>
              <a:rPr lang="ko-KR" altLang="en-US" sz="1200" dirty="0"/>
              <a:t>제약조건 등 수학적 개념을 활용해 알고리즘 내부 동작을 분석할 수 있다</a:t>
            </a:r>
            <a:r>
              <a:rPr lang="en-US" altLang="ko-KR" sz="1200" dirty="0"/>
              <a:t>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판별모델 </a:t>
            </a:r>
            <a:r>
              <a:rPr lang="en-US" altLang="ko-KR" sz="1600" dirty="0"/>
              <a:t>(Discriminative Model)</a:t>
            </a:r>
            <a:r>
              <a:rPr lang="ko-KR" altLang="en-US" sz="1600" dirty="0"/>
              <a:t>의 구조와 학습 원리를 이해한다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선형</a:t>
            </a:r>
            <a:r>
              <a:rPr lang="en-US" altLang="ko-KR" sz="1200" dirty="0"/>
              <a:t>/</a:t>
            </a:r>
            <a:r>
              <a:rPr lang="ko-KR" altLang="en-US" sz="1200" dirty="0"/>
              <a:t>로지스틱 회귀를 포함한 판별 모형의 가설공간</a:t>
            </a:r>
            <a:r>
              <a:rPr lang="en-US" altLang="ko-KR" sz="1200" dirty="0"/>
              <a:t>, </a:t>
            </a:r>
            <a:r>
              <a:rPr lang="ko-KR" altLang="en-US" sz="1200" dirty="0"/>
              <a:t>손실함수</a:t>
            </a:r>
            <a:r>
              <a:rPr lang="en-US" altLang="ko-KR" sz="1200" dirty="0"/>
              <a:t>, </a:t>
            </a:r>
            <a:r>
              <a:rPr lang="ko-KR" altLang="en-US" sz="1200" dirty="0"/>
              <a:t>최적화 문제를 수학적으로 해석할 수 있다</a:t>
            </a:r>
            <a:r>
              <a:rPr lang="en-US" altLang="ko-KR" sz="12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/>
              <a:t>모델이 최적의 결정경계를 찾아가는 과정을 미분과 최적화 이론으로 설명할 수 있다</a:t>
            </a:r>
            <a:r>
              <a:rPr lang="en-US" altLang="ko-KR" sz="1200" dirty="0"/>
              <a:t>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1600" dirty="0"/>
              <a:t>데이터의 숨겨진 구조를 파악하기 위한 차원축소 기법을 이해한다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+mn-ea"/>
              </a:rPr>
              <a:t>PCA, SVD </a:t>
            </a:r>
            <a:r>
              <a:rPr lang="ko-KR" altLang="en-US" sz="1200" dirty="0">
                <a:latin typeface="+mn-ea"/>
              </a:rPr>
              <a:t>등 차원축소 기법의 수학적 원리를 이해하고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데이터를 요약하거나 </a:t>
            </a:r>
            <a:r>
              <a:rPr lang="ko-KR" altLang="en-US" sz="1200" dirty="0" err="1">
                <a:latin typeface="+mn-ea"/>
              </a:rPr>
              <a:t>시각화하는</a:t>
            </a:r>
            <a:r>
              <a:rPr lang="ko-KR" altLang="en-US" sz="1200" dirty="0">
                <a:latin typeface="+mn-ea"/>
              </a:rPr>
              <a:t> 데 활용할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162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56F217D-9282-BBEE-81E8-B480E6B5B26A}"/>
              </a:ext>
            </a:extLst>
          </p:cNvPr>
          <p:cNvSpPr txBox="1">
            <a:spLocks/>
          </p:cNvSpPr>
          <p:nvPr/>
        </p:nvSpPr>
        <p:spPr>
          <a:xfrm>
            <a:off x="833438" y="517527"/>
            <a:ext cx="854392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기계는 어떻게 개와 고양이를 구별할 수 있을까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?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pic>
        <p:nvPicPr>
          <p:cNvPr id="2050" name="Picture 2" descr="A dog and a cat are in a basket with a dog and a dog | Premium AI-generated  image">
            <a:extLst>
              <a:ext uri="{FF2B5EF4-FFF2-40B4-BE49-F238E27FC236}">
                <a16:creationId xmlns:a16="http://schemas.microsoft.com/office/drawing/2014/main" id="{424930A0-4AD0-B16B-2325-2A5EF51E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1443037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61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FD4CD47-5EE2-4EB3-4122-2BFD78A535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64" t="41632" r="59412" b="11737"/>
          <a:stretch>
            <a:fillRect/>
          </a:stretch>
        </p:blipFill>
        <p:spPr>
          <a:xfrm>
            <a:off x="1433536" y="1851890"/>
            <a:ext cx="2288309" cy="186574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4AEDD0-4A42-2BBF-BF59-D57A2B19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97" t="40283" r="6162" b="13087"/>
          <a:stretch>
            <a:fillRect/>
          </a:stretch>
        </p:blipFill>
        <p:spPr>
          <a:xfrm>
            <a:off x="5297863" y="1826425"/>
            <a:ext cx="2819400" cy="1865746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556E6B6C-4C5A-CAC4-6BFA-B7DD89952151}"/>
              </a:ext>
            </a:extLst>
          </p:cNvPr>
          <p:cNvSpPr txBox="1">
            <a:spLocks/>
          </p:cNvSpPr>
          <p:nvPr/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판별모델과 생성모델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1277B-3D82-D5EF-5EF7-0A6D11A3BCCA}"/>
              </a:ext>
            </a:extLst>
          </p:cNvPr>
          <p:cNvSpPr txBox="1"/>
          <p:nvPr/>
        </p:nvSpPr>
        <p:spPr>
          <a:xfrm>
            <a:off x="858501" y="1258389"/>
            <a:ext cx="317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판별모델</a:t>
            </a:r>
            <a:endParaRPr lang="en-US" altLang="ko-KR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algn="ctr"/>
            <a:r>
              <a:rPr lang="en-US" altLang="ko-KR" sz="1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Discriminative Model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76A2D-5127-09EB-3E26-DA357B1F8186}"/>
              </a:ext>
            </a:extLst>
          </p:cNvPr>
          <p:cNvSpPr txBox="1"/>
          <p:nvPr/>
        </p:nvSpPr>
        <p:spPr>
          <a:xfrm>
            <a:off x="5072872" y="1269869"/>
            <a:ext cx="317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생성모델</a:t>
            </a:r>
            <a:endParaRPr lang="en-US" altLang="ko-KR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algn="ctr"/>
            <a:r>
              <a:rPr lang="en-US" altLang="ko-KR" sz="1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Generative Model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CD74F-EF77-B399-F892-67384F16D72C}"/>
              </a:ext>
            </a:extLst>
          </p:cNvPr>
          <p:cNvSpPr txBox="1"/>
          <p:nvPr/>
        </p:nvSpPr>
        <p:spPr>
          <a:xfrm>
            <a:off x="990190" y="4654911"/>
            <a:ext cx="3175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두 범주의 차이점은 무엇인가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범주간 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결정 경계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”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를 직접 학습</a:t>
            </a:r>
            <a:endParaRPr lang="en-US" altLang="ko-KR" sz="1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입력 데이터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(X)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가 주어질 때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,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결과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(Y)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가 나올 </a:t>
            </a:r>
            <a:r>
              <a:rPr lang="ko-KR" altLang="en-US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조건부 확률 </a:t>
            </a:r>
            <a:r>
              <a:rPr lang="en-US" altLang="ko-KR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P(Y|X)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를 모델링</a:t>
            </a:r>
            <a:endParaRPr lang="en-US" altLang="ko-KR" sz="1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예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영어와 프랑스어 문장을 보고 두 언어를 </a:t>
            </a:r>
            <a:r>
              <a:rPr lang="ko-KR" altLang="en-US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구별하는 규칙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</a:t>
            </a:r>
            <a:endParaRPr lang="en-US" altLang="ko-KR" sz="1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274B2-A545-B9E0-30AB-B2CAA04F11B4}"/>
              </a:ext>
            </a:extLst>
          </p:cNvPr>
          <p:cNvSpPr txBox="1"/>
          <p:nvPr/>
        </p:nvSpPr>
        <p:spPr>
          <a:xfrm>
            <a:off x="5120062" y="4666391"/>
            <a:ext cx="37615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각 범주를 이루는 데이터는 어떻게 생겼는가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각 범주의 데이터의 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분포 자체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”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를 학습</a:t>
            </a:r>
            <a:endParaRPr lang="en-US" altLang="ko-KR" sz="1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입력 데이터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(X)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와 결과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(Y)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의 </a:t>
            </a:r>
            <a:r>
              <a:rPr lang="ko-KR" altLang="en-US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결합 확률 </a:t>
            </a:r>
            <a:r>
              <a:rPr lang="en-US" altLang="ko-KR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P(X, Y)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를 모델링</a:t>
            </a:r>
            <a:endParaRPr lang="en-US" altLang="ko-KR" sz="1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영어의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문법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,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어휘</a:t>
            </a:r>
            <a:r>
              <a:rPr lang="en-US" altLang="ko-KR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, 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구조를 모두 학습하여 새로운 영어 문장을 </a:t>
            </a:r>
            <a:r>
              <a:rPr lang="ko-KR" altLang="en-US" sz="1400" dirty="0">
                <a:solidFill>
                  <a:srgbClr val="FF000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생성</a:t>
            </a:r>
            <a:r>
              <a:rPr lang="ko-KR" altLang="en-US" sz="1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할 수 있음</a:t>
            </a:r>
            <a:endParaRPr lang="en-US" altLang="ko-KR" sz="1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121A8-9443-1C84-5CDE-C7D9A9B989E5}"/>
              </a:ext>
            </a:extLst>
          </p:cNvPr>
          <p:cNvSpPr txBox="1"/>
          <p:nvPr/>
        </p:nvSpPr>
        <p:spPr>
          <a:xfrm>
            <a:off x="907062" y="3838901"/>
            <a:ext cx="3341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데이터 범주를 구별하는 경계에 관심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C7CB7F-FF79-C7B6-3F6A-D5E0E68E3E28}"/>
              </a:ext>
            </a:extLst>
          </p:cNvPr>
          <p:cNvSpPr txBox="1"/>
          <p:nvPr/>
        </p:nvSpPr>
        <p:spPr>
          <a:xfrm>
            <a:off x="4953000" y="3850382"/>
            <a:ext cx="3690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범주를 이루는 데이터 생성 원리에 관심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160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FCD7D-9D07-D39F-6479-5CC367C0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DAE4ED0-40DB-AE5B-2462-69FAD1FE0D5E}"/>
              </a:ext>
            </a:extLst>
          </p:cNvPr>
          <p:cNvSpPr txBox="1">
            <a:spLocks/>
          </p:cNvSpPr>
          <p:nvPr/>
        </p:nvSpPr>
        <p:spPr>
          <a:xfrm>
            <a:off x="681038" y="365127"/>
            <a:ext cx="8543925" cy="36933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판별모델</a:t>
            </a:r>
          </a:p>
        </p:txBody>
      </p:sp>
    </p:spTree>
    <p:extLst>
      <p:ext uri="{BB962C8B-B14F-4D97-AF65-F5344CB8AC3E}">
        <p14:creationId xmlns:p14="http://schemas.microsoft.com/office/powerpoint/2010/main" val="226549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2D0D7-9CB7-240D-64AD-06694DDB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7ACC1-17F3-6043-90EC-A0347B69B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13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</TotalTime>
  <Words>249</Words>
  <Application>Microsoft Office PowerPoint</Application>
  <PresentationFormat>A4 용지(210x297mm)</PresentationFormat>
  <Paragraphs>27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LG Smart UI SemiBold</vt:lpstr>
      <vt:lpstr>Arial</vt:lpstr>
      <vt:lpstr>Calibri</vt:lpstr>
      <vt:lpstr>Calibri Light</vt:lpstr>
      <vt:lpstr>Office 테마</vt:lpstr>
      <vt:lpstr>Machine Learning 수학 1</vt:lpstr>
      <vt:lpstr>학습목표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2025-08-24T12:46:41Z</dcterms:created>
  <dcterms:modified xsi:type="dcterms:W3CDTF">2025-08-24T14:53:56Z</dcterms:modified>
</cp:coreProperties>
</file>